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>
                <a:latin typeface="Times New Roman"/>
                <a:ea typeface="+mj-lt"/>
                <a:cs typeface="Times New Roman"/>
              </a:rPr>
              <a:t>Order Pattern Analysis Using Data Visualization</a:t>
            </a:r>
            <a:endParaRPr lang="en-US" sz="4800" b="1" dirty="0">
              <a:latin typeface="Times New Roman"/>
              <a:cs typeface="Times New Roman"/>
            </a:endParaRPr>
          </a:p>
          <a:p>
            <a:endParaRPr lang="en-US" sz="4800" b="1" dirty="0"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sz="2800" dirty="0">
                <a:latin typeface="Times New Roman"/>
                <a:ea typeface="+mn-lt"/>
                <a:cs typeface="Times New Roman"/>
              </a:rPr>
              <a:t>Exploring Customer Segments, Regions, and Market Trends</a:t>
            </a:r>
            <a:br>
              <a:rPr lang="en-US" sz="2800" dirty="0">
                <a:latin typeface="Times New Roman"/>
                <a:ea typeface="+mn-lt"/>
                <a:cs typeface="Times New Roman"/>
              </a:rPr>
            </a:br>
            <a:endParaRPr lang="en-US" sz="2800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Harshitha Dhanekula</a:t>
            </a:r>
            <a:br>
              <a:rPr lang="en-US" dirty="0">
                <a:latin typeface="Times New Roman"/>
                <a:cs typeface="Times New Roman"/>
              </a:rPr>
            </a:b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Navaneeth Reddy</a:t>
            </a:r>
          </a:p>
          <a:p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ea typeface="+mn-lt"/>
                <a:cs typeface="Times New Roman"/>
              </a:rPr>
              <a:t>MSDS670 – Data Visualization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73897-E227-A1B5-FA98-8B812E2CB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>
                <a:latin typeface="Times New Roman"/>
                <a:ea typeface="+mj-lt"/>
                <a:cs typeface="Times New Roman"/>
              </a:rPr>
              <a:t>Monthly Order Trend (2011–2014)</a:t>
            </a:r>
            <a:endParaRPr lang="en-US" sz="3800">
              <a:latin typeface="Times New Roman"/>
              <a:cs typeface="Times New Roman"/>
            </a:endParaRPr>
          </a:p>
        </p:txBody>
      </p:sp>
      <p:sp>
        <p:nvSpPr>
          <p:cNvPr id="3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82EAB-7F14-2BD3-85EC-41172521F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latin typeface="Times New Roman"/>
                <a:ea typeface="+mn-lt"/>
                <a:cs typeface="Times New Roman"/>
              </a:rPr>
              <a:t>Order volume increases steadily across the four-year period.</a:t>
            </a:r>
            <a:endParaRPr lang="en-US" sz="2200">
              <a:latin typeface="Times New Roman"/>
              <a:cs typeface="Times New Roman"/>
            </a:endParaRPr>
          </a:p>
          <a:p>
            <a:r>
              <a:rPr lang="en-US" sz="2200">
                <a:latin typeface="Times New Roman"/>
                <a:ea typeface="+mn-lt"/>
                <a:cs typeface="Times New Roman"/>
              </a:rPr>
              <a:t> Monthly fluctuations suggest seasonal demand changes.</a:t>
            </a:r>
            <a:endParaRPr lang="en-US" sz="2200">
              <a:latin typeface="Times New Roman"/>
              <a:cs typeface="Times New Roman"/>
            </a:endParaRPr>
          </a:p>
          <a:p>
            <a:r>
              <a:rPr lang="en-US" sz="2200" dirty="0">
                <a:latin typeface="Times New Roman"/>
                <a:ea typeface="+mn-lt"/>
                <a:cs typeface="Times New Roman"/>
              </a:rPr>
              <a:t> Overall growth indicates expanding business activity.</a:t>
            </a:r>
          </a:p>
          <a:p>
            <a:pPr marL="0" indent="0">
              <a:buNone/>
            </a:pPr>
            <a:endParaRPr lang="en-US" sz="2200" dirty="0">
              <a:latin typeface="Times New Roman"/>
              <a:cs typeface="Times New Roman"/>
            </a:endParaRPr>
          </a:p>
        </p:txBody>
      </p:sp>
      <p:pic>
        <p:nvPicPr>
          <p:cNvPr id="4" name="Picture 3" descr="A graph with blue dots and numbers&#10;&#10;AI-generated content may be incorrect.">
            <a:extLst>
              <a:ext uri="{FF2B5EF4-FFF2-40B4-BE49-F238E27FC236}">
                <a16:creationId xmlns:a16="http://schemas.microsoft.com/office/drawing/2014/main" id="{4C5B71F2-6321-389D-7A55-03C1BE699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720329"/>
            <a:ext cx="6903720" cy="341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371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DD6364-9B2F-2054-E2E7-B026326E0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600" dirty="0">
                <a:latin typeface="Times New Roman"/>
                <a:ea typeface="+mj-lt"/>
                <a:cs typeface="Times New Roman"/>
              </a:rPr>
              <a:t>Customer Segment Distribution (%)</a:t>
            </a:r>
            <a:endParaRPr lang="en-US" sz="4600" dirty="0">
              <a:latin typeface="Times New Roman"/>
              <a:cs typeface="Times New Roman"/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1FFF4-4FEA-C0B0-DD8E-75547EB8B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sz="2200" dirty="0">
                <a:latin typeface="Times New Roman"/>
                <a:ea typeface="+mn-lt"/>
                <a:cs typeface="Times New Roman"/>
              </a:rPr>
              <a:t>Consumer customers represent the largest portion of total orders.</a:t>
            </a:r>
            <a:endParaRPr lang="en-US" sz="2200" dirty="0">
              <a:latin typeface="Times New Roman"/>
              <a:cs typeface="Times New Roman"/>
            </a:endParaRPr>
          </a:p>
          <a:p>
            <a:pPr marL="457200" indent="-457200"/>
            <a:r>
              <a:rPr lang="en-US" sz="2200" dirty="0">
                <a:latin typeface="Times New Roman"/>
                <a:ea typeface="+mn-lt"/>
                <a:cs typeface="Times New Roman"/>
              </a:rPr>
              <a:t>Corporate customers contribute a significant secondary share.</a:t>
            </a:r>
            <a:endParaRPr lang="en-US" sz="2200" dirty="0">
              <a:latin typeface="Times New Roman"/>
              <a:cs typeface="Times New Roman"/>
            </a:endParaRPr>
          </a:p>
          <a:p>
            <a:pPr marL="457200" indent="-457200"/>
            <a:r>
              <a:rPr lang="en-US" sz="2200" dirty="0">
                <a:latin typeface="Times New Roman"/>
                <a:ea typeface="+mn-lt"/>
                <a:cs typeface="Times New Roman"/>
              </a:rPr>
              <a:t>Home Office customers account for the smallest percentage.</a:t>
            </a:r>
          </a:p>
          <a:p>
            <a:pPr marL="457200" indent="-457200"/>
            <a:endParaRPr lang="en-US" sz="22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200" dirty="0">
              <a:latin typeface="Times New Roman"/>
              <a:cs typeface="Times New Roman"/>
            </a:endParaRPr>
          </a:p>
        </p:txBody>
      </p:sp>
      <p:pic>
        <p:nvPicPr>
          <p:cNvPr id="4" name="Picture 3" descr="A bar graph showing a number of blue rectangular objects&#10;&#10;AI-generated content may be incorrect.">
            <a:extLst>
              <a:ext uri="{FF2B5EF4-FFF2-40B4-BE49-F238E27FC236}">
                <a16:creationId xmlns:a16="http://schemas.microsoft.com/office/drawing/2014/main" id="{59A9F97D-DE98-F297-236E-2A25BFC03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383" y="1736720"/>
            <a:ext cx="5976633" cy="370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49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A476B-6D72-5337-9683-A63B71901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400" dirty="0">
                <a:latin typeface="Times New Roman"/>
                <a:ea typeface="+mj-lt"/>
                <a:cs typeface="Times New Roman"/>
              </a:rPr>
              <a:t>Order Distribution by Region and Segment</a:t>
            </a:r>
            <a:endParaRPr lang="en-US" sz="3400" dirty="0">
              <a:latin typeface="Times New Roman"/>
              <a:cs typeface="Times New Roman"/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29018-2F62-E384-D37B-0610D3402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sz="2200" dirty="0">
                <a:latin typeface="Times New Roman"/>
                <a:ea typeface="+mn-lt"/>
                <a:cs typeface="Times New Roman"/>
              </a:rPr>
              <a:t>The Central region records the highest order volume.</a:t>
            </a:r>
            <a:endParaRPr lang="en-US" sz="2200" dirty="0">
              <a:latin typeface="Times New Roman"/>
              <a:cs typeface="Times New Roman"/>
            </a:endParaRPr>
          </a:p>
          <a:p>
            <a:pPr marL="457200" indent="-457200"/>
            <a:r>
              <a:rPr lang="en-US" sz="2200" dirty="0">
                <a:latin typeface="Times New Roman"/>
                <a:ea typeface="+mn-lt"/>
                <a:cs typeface="Times New Roman"/>
              </a:rPr>
              <a:t>Consumer customers dominate across all regions.</a:t>
            </a:r>
            <a:endParaRPr lang="en-US" sz="2200" dirty="0">
              <a:latin typeface="Times New Roman"/>
              <a:cs typeface="Times New Roman"/>
            </a:endParaRPr>
          </a:p>
          <a:p>
            <a:pPr marL="457200" indent="-457200"/>
            <a:r>
              <a:rPr lang="en-US" sz="2200" dirty="0">
                <a:latin typeface="Times New Roman"/>
                <a:ea typeface="+mn-lt"/>
                <a:cs typeface="Times New Roman"/>
              </a:rPr>
              <a:t>Home Office customers contribute the smallest order counts.</a:t>
            </a:r>
          </a:p>
          <a:p>
            <a:pPr marL="0" indent="0">
              <a:buNone/>
            </a:pPr>
            <a:endParaRPr lang="en-US" sz="2200" dirty="0">
              <a:latin typeface="Times New Roman"/>
              <a:cs typeface="Times New Roman"/>
            </a:endParaRPr>
          </a:p>
        </p:txBody>
      </p:sp>
      <p:pic>
        <p:nvPicPr>
          <p:cNvPr id="4" name="Picture 3" descr="A screenshot of a chart&#10;&#10;AI-generated content may be incorrect.">
            <a:extLst>
              <a:ext uri="{FF2B5EF4-FFF2-40B4-BE49-F238E27FC236}">
                <a16:creationId xmlns:a16="http://schemas.microsoft.com/office/drawing/2014/main" id="{8477AD9A-A44D-464C-25F5-7E3BA9C82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710660"/>
            <a:ext cx="6903720" cy="54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735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E966C4-0348-0799-A0F4-F275AC1E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600">
                <a:latin typeface="Times New Roman"/>
                <a:ea typeface="+mj-lt"/>
                <a:cs typeface="Times New Roman"/>
              </a:rPr>
              <a:t>Orders by Country Over Time</a:t>
            </a:r>
            <a:endParaRPr lang="en-US" sz="4600">
              <a:latin typeface="Times New Roman"/>
              <a:cs typeface="Times New Roman"/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C178A-6402-EC3F-9914-EFD20B009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latin typeface="Times New Roman"/>
                <a:ea typeface="+mn-lt"/>
                <a:cs typeface="Times New Roman"/>
              </a:rPr>
              <a:t>Certain countries consistently generate higher order volumes.</a:t>
            </a:r>
            <a:endParaRPr lang="en-US" sz="2200">
              <a:latin typeface="Times New Roman"/>
              <a:cs typeface="Times New Roman"/>
            </a:endParaRPr>
          </a:p>
          <a:p>
            <a:r>
              <a:rPr lang="en-US" sz="2200">
                <a:latin typeface="Times New Roman"/>
                <a:ea typeface="+mn-lt"/>
                <a:cs typeface="Times New Roman"/>
              </a:rPr>
              <a:t>Rankings shift over time as demand changes across markets.</a:t>
            </a:r>
            <a:endParaRPr lang="en-US" sz="2200">
              <a:latin typeface="Times New Roman"/>
              <a:cs typeface="Times New Roman"/>
            </a:endParaRPr>
          </a:p>
          <a:p>
            <a:r>
              <a:rPr lang="en-US" sz="2200">
                <a:latin typeface="Times New Roman"/>
                <a:ea typeface="+mn-lt"/>
                <a:cs typeface="Times New Roman"/>
              </a:rPr>
              <a:t>The animation highlights evolving geographic order patterns.</a:t>
            </a:r>
          </a:p>
          <a:p>
            <a:pPr marL="0" indent="0">
              <a:buNone/>
            </a:pPr>
            <a:endParaRPr lang="en-US" sz="2200" dirty="0">
              <a:latin typeface="Times New Roman"/>
              <a:cs typeface="Times New Roman"/>
            </a:endParaRPr>
          </a:p>
        </p:txBody>
      </p:sp>
      <p:pic>
        <p:nvPicPr>
          <p:cNvPr id="4" name="Picture 3" descr="A graph with colorful bars&#10;&#10;AI-generated content may be incorrect.">
            <a:extLst>
              <a:ext uri="{FF2B5EF4-FFF2-40B4-BE49-F238E27FC236}">
                <a16:creationId xmlns:a16="http://schemas.microsoft.com/office/drawing/2014/main" id="{14AC83B6-8C22-CF01-4E76-5AECB818B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457" y="1477419"/>
            <a:ext cx="5726559" cy="409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49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2BCD9-D5E1-05BD-3040-D8D0363FD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Conclusions</a:t>
            </a:r>
            <a:endParaRPr lang="en-US" sz="400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r"/>
            <a:endParaRPr lang="en-US" sz="40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CADA0-EB3A-D49C-C193-F4175BF2E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Key Insights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Order volume shows steady growth from 2011 to 2014.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Consumer customers drive most demand.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Geographic differences reveal varying market activity across regions and countries.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7779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181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Order Pattern Analysis Using Data Visualization </vt:lpstr>
      <vt:lpstr>Monthly Order Trend (2011–2014)</vt:lpstr>
      <vt:lpstr>Customer Segment Distribution (%)</vt:lpstr>
      <vt:lpstr>Order Distribution by Region and Segment</vt:lpstr>
      <vt:lpstr>Orders by Country Over Time</vt:lpstr>
      <vt:lpstr>Conclusions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Bitla, Navaneeth Reddy</cp:lastModifiedBy>
  <cp:revision>91</cp:revision>
  <dcterms:created xsi:type="dcterms:W3CDTF">2026-03-06T04:10:39Z</dcterms:created>
  <dcterms:modified xsi:type="dcterms:W3CDTF">2026-03-09T02:46:22Z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de1d5b-8b4b-4e4e-a8a1-d2976158103f_Enabled">
    <vt:lpwstr>true</vt:lpwstr>
  </property>
  <property fmtid="{D5CDD505-2E9C-101B-9397-08002B2CF9AE}" pid="3" name="MSIP_Label_a6de1d5b-8b4b-4e4e-a8a1-d2976158103f_SetDate">
    <vt:lpwstr>2026-03-08T04:40:41Z</vt:lpwstr>
  </property>
  <property fmtid="{D5CDD505-2E9C-101B-9397-08002B2CF9AE}" pid="4" name="MSIP_Label_a6de1d5b-8b4b-4e4e-a8a1-d2976158103f_Method">
    <vt:lpwstr>Standard</vt:lpwstr>
  </property>
  <property fmtid="{D5CDD505-2E9C-101B-9397-08002B2CF9AE}" pid="5" name="MSIP_Label_a6de1d5b-8b4b-4e4e-a8a1-d2976158103f_Name">
    <vt:lpwstr>defa4170-0d19-0005-0004-bc88714345d2</vt:lpwstr>
  </property>
  <property fmtid="{D5CDD505-2E9C-101B-9397-08002B2CF9AE}" pid="6" name="MSIP_Label_a6de1d5b-8b4b-4e4e-a8a1-d2976158103f_SiteId">
    <vt:lpwstr>ecd4c5d9-c2fe-4522-afd1-f0d20755d9d7</vt:lpwstr>
  </property>
  <property fmtid="{D5CDD505-2E9C-101B-9397-08002B2CF9AE}" pid="7" name="MSIP_Label_a6de1d5b-8b4b-4e4e-a8a1-d2976158103f_ActionId">
    <vt:lpwstr>58ca21eb-97ec-4364-8d56-2074d2fde428</vt:lpwstr>
  </property>
  <property fmtid="{D5CDD505-2E9C-101B-9397-08002B2CF9AE}" pid="8" name="MSIP_Label_a6de1d5b-8b4b-4e4e-a8a1-d2976158103f_ContentBits">
    <vt:lpwstr>0</vt:lpwstr>
  </property>
  <property fmtid="{D5CDD505-2E9C-101B-9397-08002B2CF9AE}" pid="9" name="MSIP_Label_a6de1d5b-8b4b-4e4e-a8a1-d2976158103f_Tag">
    <vt:lpwstr>10, 3, 0, 1</vt:lpwstr>
  </property>
</Properties>
</file>